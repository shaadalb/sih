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3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embeddedFontLst>
    <p:embeddedFont>
      <p:font typeface="Franklin Gothic" panose="020B0604020202020204" charset="0"/>
      <p:bold r:id="rId8"/>
    </p:embeddedFont>
    <p:embeddedFont>
      <p:font typeface="Libre Franklin" panose="020B0604020202020204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aramond" panose="02020404030301010803" pitchFamily="18" charset="0"/>
      <p:regular r:id="rId17"/>
      <p:bold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0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AB863-7DAE-4D8A-96DD-598EDE1B029F}" v="351" dt="2023-09-13T16:54:28.883"/>
    <p1510:client id="{9B5838A3-A7B5-43EC-B7F3-A9851A4BD698}" v="117" dt="2023-09-13T17:04:03.139"/>
    <p1510:client id="{F6B4EA9B-89F4-4121-B905-8E83E0973820}" v="131" dt="2023-09-13T17:21:56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03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01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93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45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33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8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4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949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06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876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339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320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111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786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055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071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92479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3879454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2337113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roup 227">
            <a:extLst>
              <a:ext uri="{FF2B5EF4-FFF2-40B4-BE49-F238E27FC236}">
                <a16:creationId xmlns:a16="http://schemas.microsoft.com/office/drawing/2014/main" id="{A35723D1-BE23-4F7B-872D-35CA6D17FB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18" name="Picture 217">
              <a:extLst>
                <a:ext uri="{FF2B5EF4-FFF2-40B4-BE49-F238E27FC236}">
                  <a16:creationId xmlns:a16="http://schemas.microsoft.com/office/drawing/2014/main" id="{D6E618D2-8F0C-4909-AFC7-B7A18075291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D4523B5A-3C1B-43E2-9848-4224E638B8E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20" name="Picture 219">
              <a:extLst>
                <a:ext uri="{FF2B5EF4-FFF2-40B4-BE49-F238E27FC236}">
                  <a16:creationId xmlns:a16="http://schemas.microsoft.com/office/drawing/2014/main" id="{6E82BC15-7FB9-4C06-AF5C-CEFF4A4AA1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21" name="Picture 220">
              <a:extLst>
                <a:ext uri="{FF2B5EF4-FFF2-40B4-BE49-F238E27FC236}">
                  <a16:creationId xmlns:a16="http://schemas.microsoft.com/office/drawing/2014/main" id="{31D50916-7994-4161-83BF-EDC798D7BC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CF2CD8F0-C030-420D-9AA6-5D9243779F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919768" y="842611"/>
            <a:ext cx="9601196" cy="130386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r>
              <a:rPr lang="en-IN" sz="2800" dirty="0"/>
              <a:t>Geospatial Monitoring System for Air and Water Quality Index</a:t>
            </a:r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6"/>
          <a:srcRect r="53980"/>
          <a:stretch/>
        </p:blipFill>
        <p:spPr>
          <a:xfrm>
            <a:off x="1434269" y="2701180"/>
            <a:ext cx="2739728" cy="2852640"/>
          </a:xfrm>
          <a:prstGeom prst="rect">
            <a:avLst/>
          </a:prstGeom>
          <a:noFill/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4639732" y="2556932"/>
            <a:ext cx="6256863" cy="331893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Ministry/Organization Name :Government of Kerala 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PS Code:SIH1324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4999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Problem Statement Title :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 Air and water quality index and environment monitoring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4999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Team Name : Elite squad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4999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Team Leader Name : M. Karthik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4999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Institute Code (AISHE):U-0474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Institute Name : Sathyabama University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Wingdings"/>
              <a:buChar char="§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Theme Name : 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  <a:sym typeface="Franklin Gothic"/>
              </a:rPr>
              <a:t>EnviroMonitor</a:t>
            </a:r>
            <a:endParaRPr lang="en-US" sz="1600" b="1" dirty="0" err="1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366" y="2740684"/>
            <a:ext cx="2773631" cy="27736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roup 280">
            <a:extLst>
              <a:ext uri="{FF2B5EF4-FFF2-40B4-BE49-F238E27FC236}">
                <a16:creationId xmlns:a16="http://schemas.microsoft.com/office/drawing/2014/main" id="{A35723D1-BE23-4F7B-872D-35CA6D17FB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82" name="Picture 281">
              <a:extLst>
                <a:ext uri="{FF2B5EF4-FFF2-40B4-BE49-F238E27FC236}">
                  <a16:creationId xmlns:a16="http://schemas.microsoft.com/office/drawing/2014/main" id="{D6E618D2-8F0C-4909-AFC7-B7A18075291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D4523B5A-3C1B-43E2-9848-4224E638B8E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84" name="Picture 283">
              <a:extLst>
                <a:ext uri="{FF2B5EF4-FFF2-40B4-BE49-F238E27FC236}">
                  <a16:creationId xmlns:a16="http://schemas.microsoft.com/office/drawing/2014/main" id="{6E82BC15-7FB9-4C06-AF5C-CEFF4A4AA1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31D50916-7994-4161-83BF-EDC798D7BC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CF2CD8F0-C030-420D-9AA6-5D9243779F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C11FE44B-46D1-485F-88E0-F790CE427F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90" name="Rectangle 289">
              <a:extLst>
                <a:ext uri="{FF2B5EF4-FFF2-40B4-BE49-F238E27FC236}">
                  <a16:creationId xmlns:a16="http://schemas.microsoft.com/office/drawing/2014/main" id="{57D4B92A-5EF4-4B95-8004-943EE06280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C93532B-75B6-4775-9B2B-2064D71772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292" name="Picture 291">
                <a:extLst>
                  <a:ext uri="{FF2B5EF4-FFF2-40B4-BE49-F238E27FC236}">
                    <a16:creationId xmlns:a16="http://schemas.microsoft.com/office/drawing/2014/main" id="{CA6CE258-75E4-4B8E-9C2C-620A11F97FB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38AEEA47-89DA-4860-87E2-DC953998E6E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sp>
          <p:pic>
            <p:nvPicPr>
              <p:cNvPr id="294" name="Picture 293">
                <a:extLst>
                  <a:ext uri="{FF2B5EF4-FFF2-40B4-BE49-F238E27FC236}">
                    <a16:creationId xmlns:a16="http://schemas.microsoft.com/office/drawing/2014/main" id="{5DDD0F81-BADD-46AE-BDB8-65D419C01D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08A4150D-E0D7-4796-8DF9-4BB3BA13E38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3660056" cy="105706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latin typeface="+mj-lt"/>
                <a:ea typeface="+mj-ea"/>
                <a:cs typeface="+mj-cs"/>
              </a:rPr>
              <a:t>IDEA/APPROACH</a:t>
            </a:r>
            <a:endParaRPr lang="en-US" sz="2400">
              <a:latin typeface="+mj-lt"/>
              <a:ea typeface="+mj-ea"/>
              <a:cs typeface="+mj-cs"/>
            </a:endParaRPr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4272FA93-03B0-4857-8946-E04C5E7E26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943F95-0986-A76A-3FA7-6339C414B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965" y="2483042"/>
            <a:ext cx="4003493" cy="3382094"/>
          </a:xfrm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G</a:t>
            </a:r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eo-spatial monitoring system for air and water quality index is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a comprehensive project aimed at monitoring and visualizing air and water quality index at a specific geographical location. </a:t>
            </a:r>
            <a:endParaRPr lang="en-US" dirty="0"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The project aims to provide real-time environmental data to empower residents, researchers, and authorities for informed decision-making and environmental conservation.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The idea is to develop an integrated Air and Water Quality Monitoring System that leverages advanced sensor technology and data analytics to provide real-time, accurate, and accessible information about the quality of air and water in a specific region.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A map of the world with different colored circles&#10;&#10;Description automatically generated">
            <a:extLst>
              <a:ext uri="{FF2B5EF4-FFF2-40B4-BE49-F238E27FC236}">
                <a16:creationId xmlns:a16="http://schemas.microsoft.com/office/drawing/2014/main" id="{AB72C9AA-10DB-B3A3-1F34-EB2BDD2BAC1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456"/>
          <a:stretch/>
        </p:blipFill>
        <p:spPr>
          <a:xfrm>
            <a:off x="5418668" y="982131"/>
            <a:ext cx="5469466" cy="4893735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Deployment</a:t>
            </a:r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73961" y="2177487"/>
            <a:ext cx="4817236" cy="41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b="1" dirty="0">
                <a:solidFill>
                  <a:schemeClr val="tx1"/>
                </a:solidFill>
              </a:rPr>
              <a:t>Use Cases :</a:t>
            </a:r>
            <a:endParaRPr sz="2000" b="1" dirty="0">
              <a:solidFill>
                <a:schemeClr val="tx1"/>
              </a:solidFill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6096000" y="2177486"/>
            <a:ext cx="5143500" cy="41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>
              <a:lnSpc>
                <a:spcPct val="90000"/>
              </a:lnSpc>
              <a:buClr>
                <a:schemeClr val="lt2"/>
              </a:buClr>
              <a:buSzPts val="1800"/>
            </a:pPr>
            <a:r>
              <a:rPr lang="en-US" sz="180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 </a:t>
            </a:r>
            <a:r>
              <a:rPr lang="en-US" sz="2000" b="1" dirty="0">
                <a:solidFill>
                  <a:schemeClr val="tx1"/>
                </a:solidFill>
                <a:ea typeface="Franklin Gothic"/>
                <a:sym typeface="Franklin Gothic"/>
              </a:rPr>
              <a:t>Technology stack : </a:t>
            </a:r>
            <a:endParaRPr sz="20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C5A9C-0F45-5225-2F22-FE767ED3F5C0}"/>
              </a:ext>
            </a:extLst>
          </p:cNvPr>
          <p:cNvSpPr txBox="1"/>
          <p:nvPr/>
        </p:nvSpPr>
        <p:spPr>
          <a:xfrm>
            <a:off x="952496" y="2768125"/>
            <a:ext cx="4838699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Public Health and Safety</a:t>
            </a:r>
            <a:endParaRPr lang="en-IN" sz="16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Environmental Protection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Urban Planning and Infrastructure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Industrial and Agricultural Applications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Emergency Response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Research and Innovation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Real time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94AE5-FF39-E109-43FF-EC0ADFEEE827}"/>
              </a:ext>
            </a:extLst>
          </p:cNvPr>
          <p:cNvSpPr txBox="1"/>
          <p:nvPr/>
        </p:nvSpPr>
        <p:spPr>
          <a:xfrm>
            <a:off x="6286499" y="2766274"/>
            <a:ext cx="4467359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b="1" err="1"/>
              <a:t>Colab</a:t>
            </a:r>
            <a:endParaRPr lang="en-US" b="1"/>
          </a:p>
          <a:p>
            <a:pPr marL="285750" indent="-285750">
              <a:buFont typeface="Wingdings"/>
              <a:buChar char="Ø"/>
            </a:pPr>
            <a:r>
              <a:rPr lang="en-US" b="1" dirty="0"/>
              <a:t>Pandas</a:t>
            </a:r>
          </a:p>
          <a:p>
            <a:pPr marL="285750" indent="-285750">
              <a:buFont typeface="Wingdings"/>
              <a:buChar char="Ø"/>
            </a:pPr>
            <a:r>
              <a:rPr lang="en-US" b="1" dirty="0"/>
              <a:t>Matplotlib</a:t>
            </a:r>
          </a:p>
          <a:p>
            <a:pPr marL="285750" indent="-285750">
              <a:buFont typeface="Wingdings"/>
              <a:buChar char="Ø"/>
            </a:pPr>
            <a:r>
              <a:rPr lang="en-US" b="1" dirty="0"/>
              <a:t>Seaborn</a:t>
            </a:r>
          </a:p>
          <a:p>
            <a:pPr marL="285750" indent="-285750">
              <a:buFont typeface="Wingdings"/>
              <a:buChar char="Ø"/>
            </a:pPr>
            <a:r>
              <a:rPr lang="en-US" b="1" dirty="0"/>
              <a:t>ML Algorithms - </a:t>
            </a:r>
            <a:r>
              <a:rPr lang="en-US" b="1" dirty="0" err="1"/>
              <a:t>Lstm,knn,EDA</a:t>
            </a:r>
          </a:p>
          <a:p>
            <a:pPr marL="285750" indent="-285750">
              <a:buFont typeface="Wingdings"/>
              <a:buChar char="Ø"/>
            </a:pPr>
            <a:r>
              <a:rPr lang="en-US" b="1" dirty="0"/>
              <a:t>Bs4 - </a:t>
            </a:r>
            <a:r>
              <a:rPr lang="en-US" b="1" err="1"/>
              <a:t>beautifulSoup</a:t>
            </a:r>
            <a:endParaRPr lang="en-US" b="1"/>
          </a:p>
          <a:p>
            <a:pPr marL="285750" indent="-285750">
              <a:buFont typeface="Wingdings"/>
              <a:buChar char="Ø"/>
            </a:pPr>
            <a:r>
              <a:rPr lang="en-US" b="1" dirty="0"/>
              <a:t>Requests</a:t>
            </a:r>
          </a:p>
          <a:p>
            <a:pPr marL="285750" indent="-285750">
              <a:buFont typeface="Wingdings"/>
              <a:buChar char="Ø"/>
            </a:pPr>
            <a:r>
              <a:rPr lang="en-US" b="1" err="1"/>
              <a:t>ThreadPoolExecutor</a:t>
            </a:r>
            <a:endParaRPr lang="en-US" b="1"/>
          </a:p>
          <a:p>
            <a:pPr marL="285750" indent="-285750">
              <a:buFont typeface="Wingdings"/>
              <a:buChar char="Ø"/>
            </a:pPr>
            <a:r>
              <a:rPr lang="en-US" b="1" dirty="0"/>
              <a:t>Folium</a:t>
            </a:r>
          </a:p>
          <a:p>
            <a:pPr marL="285750" indent="-285750">
              <a:buFont typeface="Wingdings"/>
              <a:buChar char="Ø"/>
            </a:pPr>
            <a:r>
              <a:rPr lang="en-US" b="1" dirty="0"/>
              <a:t>Timeseries models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8F59C0D-C841-4077-8A86-CFA04BFD6B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67716107-90BF-4496-9A07-0725F1BFD7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513F9E32-5E2C-4B36-9DD2-C10A9917ED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CDF688DD-0F85-41C3-8996-F19BE3748A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55" name="Picture 254">
              <a:extLst>
                <a:ext uri="{FF2B5EF4-FFF2-40B4-BE49-F238E27FC236}">
                  <a16:creationId xmlns:a16="http://schemas.microsoft.com/office/drawing/2014/main" id="{A6FD2F11-D24C-49B6-9A36-D99D7A5DC1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5319E216-CB07-40D9-9253-0C7AADA11B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59" name="Rectangle 258">
            <a:extLst>
              <a:ext uri="{FF2B5EF4-FFF2-40B4-BE49-F238E27FC236}">
                <a16:creationId xmlns:a16="http://schemas.microsoft.com/office/drawing/2014/main" id="{042D3996-BA08-4AC2-948E-02DA85C028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6B6CA78D-2100-44EF-B3DD-CEF1EB3ACC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284" y="481264"/>
            <a:ext cx="11213432" cy="5895473"/>
          </a:xfrm>
          <a:prstGeom prst="rect">
            <a:avLst/>
          </a:prstGeom>
          <a:blipFill dpi="0" rotWithShape="1"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tile tx="0" ty="0" sx="90000" sy="100000" flip="none" algn="ctr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E771A7-AE2B-1A14-74A8-0E767274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83" y="982132"/>
            <a:ext cx="4524773" cy="1303867"/>
          </a:xfr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12121"/>
                </a:solidFill>
                <a:latin typeface="+mj-lt"/>
                <a:ea typeface="+mj-ea"/>
                <a:cs typeface="+mj-cs"/>
              </a:rPr>
              <a:t>Dependencies</a:t>
            </a:r>
            <a:endParaRPr lang="en-US" dirty="0">
              <a:ea typeface="+mj-ea"/>
              <a:cs typeface="+mj-cs"/>
            </a:endParaRP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8AEF6D22-D80F-4107-8B30-6AB147A508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3000" y="2400639"/>
            <a:ext cx="22860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715852" y="2535467"/>
            <a:ext cx="5265309" cy="325454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>
              <a:buClr>
                <a:schemeClr val="accent1"/>
              </a:buClr>
              <a:buSzPct val="115000"/>
              <a:buAutoNum type="arabicPeriod"/>
            </a:pPr>
            <a:r>
              <a:rPr lang="en-US" sz="1200" b="1">
                <a:solidFill>
                  <a:srgbClr val="373737"/>
                </a:solidFill>
                <a:ea typeface="+mn-ea"/>
                <a:cs typeface="+mn-cs"/>
              </a:rPr>
              <a:t>Data Availability</a:t>
            </a:r>
            <a:endParaRPr lang="en-US" sz="1200">
              <a:solidFill>
                <a:srgbClr val="374151"/>
              </a:solidFill>
              <a:ea typeface="+mn-ea"/>
              <a:cs typeface="+mn-cs"/>
            </a:endParaRPr>
          </a:p>
          <a:p>
            <a:pPr>
              <a:buClr>
                <a:schemeClr val="accent1"/>
              </a:buClr>
              <a:buSzPct val="114999"/>
              <a:buAutoNum type="arabicPeriod"/>
            </a:pPr>
            <a:r>
              <a:rPr lang="en-US" sz="1200" b="1">
                <a:solidFill>
                  <a:srgbClr val="373737"/>
                </a:solidFill>
                <a:ea typeface="+mn-ea"/>
                <a:cs typeface="+mn-cs"/>
              </a:rPr>
              <a:t>Sensor Technology</a:t>
            </a:r>
            <a:endParaRPr lang="en-US" sz="1200">
              <a:solidFill>
                <a:srgbClr val="374151"/>
              </a:solidFill>
              <a:ea typeface="+mn-ea"/>
              <a:cs typeface="+mn-cs"/>
            </a:endParaRPr>
          </a:p>
          <a:p>
            <a:pPr>
              <a:buClr>
                <a:schemeClr val="accent1"/>
              </a:buClr>
              <a:buSzPct val="114999"/>
              <a:buAutoNum type="arabicPeriod"/>
            </a:pPr>
            <a:r>
              <a:rPr lang="en-US" sz="1200" b="1">
                <a:solidFill>
                  <a:srgbClr val="373737"/>
                </a:solidFill>
                <a:ea typeface="+mn-ea"/>
                <a:cs typeface="+mn-cs"/>
              </a:rPr>
              <a:t>Data Infrastructure</a:t>
            </a:r>
            <a:endParaRPr lang="en-US" sz="1200">
              <a:solidFill>
                <a:srgbClr val="374151"/>
              </a:solidFill>
              <a:ea typeface="+mn-ea"/>
              <a:cs typeface="+mn-cs"/>
            </a:endParaRPr>
          </a:p>
          <a:p>
            <a:pPr>
              <a:buClr>
                <a:schemeClr val="accent1"/>
              </a:buClr>
              <a:buSzPct val="114999"/>
              <a:buAutoNum type="arabicPeriod"/>
            </a:pPr>
            <a:r>
              <a:rPr lang="en-US" sz="1200" b="1">
                <a:solidFill>
                  <a:srgbClr val="373737"/>
                </a:solidFill>
                <a:ea typeface="+mn-ea"/>
                <a:cs typeface="+mn-cs"/>
              </a:rPr>
              <a:t>Government and Regulatory Support:</a:t>
            </a:r>
            <a:endParaRPr lang="en-US" sz="1200">
              <a:solidFill>
                <a:srgbClr val="374151"/>
              </a:solidFill>
              <a:ea typeface="+mn-ea"/>
              <a:cs typeface="+mn-cs"/>
            </a:endParaRPr>
          </a:p>
          <a:p>
            <a:pPr>
              <a:buClr>
                <a:schemeClr val="accent1"/>
              </a:buClr>
              <a:buSzPct val="114999"/>
              <a:buAutoNum type="arabicPeriod"/>
            </a:pPr>
            <a:r>
              <a:rPr lang="en-US" sz="1200" b="1">
                <a:solidFill>
                  <a:srgbClr val="373737"/>
                </a:solidFill>
                <a:ea typeface="+mn-ea"/>
                <a:cs typeface="+mn-cs"/>
              </a:rPr>
              <a:t>Community Engagement:</a:t>
            </a:r>
            <a:endParaRPr lang="en-US" sz="1200">
              <a:solidFill>
                <a:srgbClr val="374151"/>
              </a:solidFill>
              <a:ea typeface="+mn-ea"/>
              <a:cs typeface="+mn-cs"/>
            </a:endParaRPr>
          </a:p>
          <a:p>
            <a:pPr>
              <a:buClr>
                <a:schemeClr val="accent1"/>
              </a:buClr>
              <a:buSzPct val="114999"/>
              <a:buAutoNum type="arabicPeriod"/>
            </a:pPr>
            <a:r>
              <a:rPr lang="en-US" sz="1200" b="1">
                <a:solidFill>
                  <a:srgbClr val="373737"/>
                </a:solidFill>
                <a:ea typeface="+mn-ea"/>
                <a:cs typeface="+mn-cs"/>
              </a:rPr>
              <a:t>Technology and Expertise:</a:t>
            </a:r>
            <a:r>
              <a:rPr lang="en-US" sz="1200" dirty="0">
                <a:solidFill>
                  <a:srgbClr val="374151"/>
                </a:solidFill>
                <a:ea typeface="+mn-ea"/>
                <a:cs typeface="+mn-cs"/>
              </a:rPr>
              <a:t> </a:t>
            </a:r>
          </a:p>
          <a:p>
            <a:pPr>
              <a:buClr>
                <a:schemeClr val="accent1"/>
              </a:buClr>
              <a:buSzPct val="114999"/>
              <a:buAutoNum type="arabicPeriod"/>
            </a:pPr>
            <a:r>
              <a:rPr lang="en-US" sz="1200" b="1">
                <a:solidFill>
                  <a:srgbClr val="373737"/>
                </a:solidFill>
                <a:ea typeface="+mn-ea"/>
                <a:cs typeface="+mn-cs"/>
              </a:rPr>
              <a:t>Funding</a:t>
            </a:r>
            <a:endParaRPr lang="en-US">
              <a:ea typeface="+mn-ea"/>
              <a:cs typeface="+mn-cs"/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4999"/>
              <a:buFont typeface="Arial"/>
              <a:buChar char="•"/>
            </a:pPr>
            <a:endParaRPr lang="en-US" dirty="0">
              <a:solidFill>
                <a:srgbClr val="37373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indent="0" algn="r" defTabSz="4572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800" kern="1200">
                <a:solidFill>
                  <a:srgbClr val="373737"/>
                </a:solidFill>
                <a:ea typeface="+mn-ea"/>
                <a:cs typeface="+mn-cs"/>
              </a:rPr>
              <a:pPr lvl="0" indent="0" algn="r" defTabSz="4572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US" sz="800" kern="1200">
              <a:solidFill>
                <a:srgbClr val="373737"/>
              </a:solidFill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87A35-CD8F-7D4E-1A5A-5349AEEA90C5}"/>
              </a:ext>
            </a:extLst>
          </p:cNvPr>
          <p:cNvSpPr txBox="1"/>
          <p:nvPr/>
        </p:nvSpPr>
        <p:spPr>
          <a:xfrm>
            <a:off x="6895563" y="1247640"/>
            <a:ext cx="431978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b="1" dirty="0">
                <a:latin typeface="Garamond"/>
              </a:rPr>
              <a:t>Showstoppers:</a:t>
            </a:r>
            <a:endParaRPr lang="en-US" sz="4400">
              <a:latin typeface="Garamon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07810-549B-DB4E-F67C-1B9D1E1C32BE}"/>
              </a:ext>
            </a:extLst>
          </p:cNvPr>
          <p:cNvSpPr txBox="1"/>
          <p:nvPr/>
        </p:nvSpPr>
        <p:spPr>
          <a:xfrm>
            <a:off x="6637386" y="2461919"/>
            <a:ext cx="4198165" cy="2780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Data Quality and Reliability</a:t>
            </a: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Privacy and Security Concerns</a:t>
            </a:r>
            <a:r>
              <a:rPr lang="en-US" sz="1600" dirty="0">
                <a:solidFill>
                  <a:srgbClr val="374151"/>
                </a:solidFill>
                <a:latin typeface="Calibri"/>
              </a:rPr>
              <a:t>.</a:t>
            </a:r>
            <a:endParaRPr lang="en-US" sz="1600" dirty="0">
              <a:latin typeface="Calibri"/>
            </a:endParaRP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Regulatory Challenges</a:t>
            </a: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Infrastructure Limitations</a:t>
            </a:r>
            <a:endParaRPr lang="en-US" sz="1600" dirty="0">
              <a:solidFill>
                <a:srgbClr val="374151"/>
              </a:solidFill>
              <a:latin typeface="Calibri"/>
            </a:endParaRP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Resource Constraints</a:t>
            </a: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Resistance to Change</a:t>
            </a:r>
            <a:endParaRPr lang="en-US" sz="1600" dirty="0">
              <a:solidFill>
                <a:srgbClr val="374151"/>
              </a:solidFill>
              <a:latin typeface="Calibri"/>
            </a:endParaRP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Environmental Catastrophes</a:t>
            </a: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Data Interpretation Challenges</a:t>
            </a:r>
            <a:endParaRPr lang="en-US" sz="1600" dirty="0">
              <a:solidFill>
                <a:srgbClr val="374151"/>
              </a:solidFill>
              <a:latin typeface="Calibri"/>
            </a:endParaRP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Lack of Public Awareness</a:t>
            </a:r>
            <a:endParaRPr lang="en-US" sz="1600" dirty="0">
              <a:solidFill>
                <a:srgbClr val="374151"/>
              </a:solidFill>
              <a:latin typeface="Calibri"/>
            </a:endParaRPr>
          </a:p>
          <a:p>
            <a:pPr marL="228600" indent="-228600">
              <a:buAutoNum type="arabicPeriod"/>
            </a:pPr>
            <a:r>
              <a:rPr lang="en-US" sz="1600" dirty="0">
                <a:latin typeface="Calibri"/>
              </a:rPr>
              <a:t>Climate and Weather Variability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8F59C0D-C841-4077-8A86-CFA04BFD6B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44" name="Picture 243">
              <a:extLst>
                <a:ext uri="{FF2B5EF4-FFF2-40B4-BE49-F238E27FC236}">
                  <a16:creationId xmlns:a16="http://schemas.microsoft.com/office/drawing/2014/main" id="{67716107-90BF-4496-9A07-0725F1BFD7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513F9E32-5E2C-4B36-9DD2-C10A9917ED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CDF688DD-0F85-41C3-8996-F19BE3748A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A6FD2F11-D24C-49B6-9A36-D99D7A5DC1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319E216-CB07-40D9-9253-0C7AADA11B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59" name="Rectangle 258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1295402" y="713823"/>
            <a:ext cx="9601196" cy="85310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>
                <a:latin typeface="+mj-lt"/>
                <a:ea typeface="+mj-ea"/>
                <a:cs typeface="+mj-cs"/>
              </a:rPr>
              <a:t>Team Member Details </a:t>
            </a:r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1231007" y="1612481"/>
            <a:ext cx="9719252" cy="3812626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Leader Name:</a:t>
            </a:r>
            <a:r>
              <a:rPr lang="en-US" sz="1200" b="1" dirty="0">
                <a:latin typeface="Arial"/>
                <a:ea typeface="+mn-ea"/>
                <a:cs typeface="Arial"/>
              </a:rPr>
              <a:t> M. Karthik</a:t>
            </a:r>
            <a:endParaRPr lang="en-US" sz="1200" dirty="0">
              <a:latin typeface="Arial"/>
              <a:ea typeface="+mn-ea"/>
              <a:cs typeface="Arial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1200" dirty="0">
                <a:latin typeface="+mn-lt"/>
                <a:ea typeface="+mn-ea"/>
                <a:cs typeface="+mn-cs"/>
              </a:rPr>
              <a:t>  Branch :B.E                            Stream :CSE	(IOT)                   Year : III</a:t>
            </a:r>
          </a:p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Member 1 Name: </a:t>
            </a:r>
            <a:r>
              <a:rPr lang="en-US" sz="1200" b="1" dirty="0">
                <a:latin typeface="Arial"/>
                <a:ea typeface="+mn-ea"/>
                <a:cs typeface="Arial"/>
              </a:rPr>
              <a:t>D. Bala Chandu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1200" dirty="0">
                <a:latin typeface="+mn-lt"/>
                <a:ea typeface="+mn-ea"/>
                <a:cs typeface="+mn-cs"/>
              </a:rPr>
              <a:t>  Branch :B.E                            Stream :CSE	(IOT)                    Year : III</a:t>
            </a:r>
          </a:p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Member 2 Name: </a:t>
            </a:r>
            <a:r>
              <a:rPr lang="en-US" sz="1200" b="1" dirty="0">
                <a:latin typeface="Arial"/>
                <a:ea typeface="+mn-ea"/>
                <a:cs typeface="Arial"/>
              </a:rPr>
              <a:t>R. Durga Naga Prasad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1200" dirty="0">
                <a:latin typeface="+mn-lt"/>
                <a:ea typeface="+mn-ea"/>
                <a:cs typeface="+mn-cs"/>
              </a:rPr>
              <a:t>  Branch :B.E                            Stream :CSE	(IOT)                     Year: III</a:t>
            </a:r>
          </a:p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Member 3 Name: </a:t>
            </a:r>
            <a:r>
              <a:rPr lang="en-US" sz="1200" b="1" dirty="0">
                <a:latin typeface="Arial"/>
                <a:ea typeface="+mn-ea"/>
                <a:cs typeface="Arial"/>
              </a:rPr>
              <a:t>P. Pavan Teja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1200" dirty="0">
                <a:latin typeface="+mn-lt"/>
                <a:ea typeface="+mn-ea"/>
                <a:cs typeface="+mn-cs"/>
              </a:rPr>
              <a:t>  Branch :B.E                            Stream :CSE	(IOT)                     Year :III </a:t>
            </a:r>
          </a:p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Member 4 Name: </a:t>
            </a:r>
            <a:r>
              <a:rPr lang="en-US" sz="1200" b="1" dirty="0">
                <a:latin typeface="Arial"/>
                <a:ea typeface="+mn-ea"/>
                <a:cs typeface="Arial"/>
              </a:rPr>
              <a:t>K. </a:t>
            </a:r>
            <a:r>
              <a:rPr lang="en-US" sz="1200" b="1" dirty="0" err="1" smtClean="0">
                <a:latin typeface="Arial"/>
                <a:ea typeface="+mn-ea"/>
                <a:cs typeface="Arial"/>
              </a:rPr>
              <a:t>Jithendar</a:t>
            </a:r>
            <a:r>
              <a:rPr lang="en-US" sz="1200" b="1" dirty="0" smtClean="0">
                <a:latin typeface="Arial"/>
                <a:ea typeface="+mn-ea"/>
                <a:cs typeface="Arial"/>
              </a:rPr>
              <a:t> </a:t>
            </a:r>
            <a:endParaRPr lang="en-US" sz="1200" b="1" dirty="0">
              <a:latin typeface="Arial"/>
              <a:ea typeface="+mn-ea"/>
              <a:cs typeface="Arial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1200" dirty="0">
                <a:latin typeface="+mn-lt"/>
                <a:ea typeface="+mn-ea"/>
                <a:cs typeface="+mn-cs"/>
              </a:rPr>
              <a:t>  Branch :B.E                            Stream :CSE	(IOT)                     Year :III </a:t>
            </a:r>
          </a:p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Member 5 Name: </a:t>
            </a:r>
            <a:r>
              <a:rPr lang="en-US" sz="1200" b="1" dirty="0">
                <a:latin typeface="Arial"/>
                <a:ea typeface="+mn-ea"/>
                <a:cs typeface="Arial"/>
              </a:rPr>
              <a:t>K. Sujitha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1200" dirty="0">
                <a:latin typeface="+mn-lt"/>
                <a:ea typeface="+mn-ea"/>
                <a:cs typeface="+mn-cs"/>
              </a:rPr>
              <a:t>  Branch :B.E                            Stream :CSE	(IOT)                     Year :III </a:t>
            </a:r>
          </a:p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Mentor 1 Name: </a:t>
            </a:r>
            <a:r>
              <a:rPr lang="en-US" sz="1200" b="1" dirty="0">
                <a:latin typeface="Arial"/>
                <a:ea typeface="+mn-ea"/>
                <a:cs typeface="Arial"/>
              </a:rPr>
              <a:t>Dr. D. Menaka</a:t>
            </a:r>
            <a:endParaRPr lang="en-US" sz="1200" dirty="0">
              <a:latin typeface="Arial"/>
              <a:ea typeface="+mn-ea"/>
              <a:cs typeface="Arial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1200" dirty="0">
                <a:latin typeface="+mn-lt"/>
                <a:ea typeface="+mn-ea"/>
                <a:cs typeface="+mn-cs"/>
              </a:rPr>
              <a:t>  Academic			Expertise (DL/IoT/Data science</a:t>
            </a:r>
            <a:r>
              <a:rPr lang="en-US" sz="1200" dirty="0" smtClean="0">
                <a:latin typeface="+mn-lt"/>
                <a:ea typeface="+mn-ea"/>
                <a:cs typeface="+mn-cs"/>
              </a:rPr>
              <a:t>) </a:t>
            </a:r>
            <a:r>
              <a:rPr lang="en-US" sz="1200" dirty="0">
                <a:latin typeface="+mn-lt"/>
                <a:ea typeface="+mn-ea"/>
                <a:cs typeface="+mn-cs"/>
              </a:rPr>
              <a:t>                    </a:t>
            </a:r>
            <a:r>
              <a:rPr lang="en-US" sz="1200" dirty="0" smtClean="0">
                <a:latin typeface="+mn-lt"/>
                <a:ea typeface="+mn-ea"/>
                <a:cs typeface="+mn-cs"/>
              </a:rPr>
              <a:t>  Domain </a:t>
            </a:r>
            <a:r>
              <a:rPr lang="en-US" sz="1200" dirty="0">
                <a:latin typeface="+mn-lt"/>
                <a:ea typeface="+mn-ea"/>
                <a:cs typeface="+mn-cs"/>
              </a:rPr>
              <a:t>Experience (5 Years</a:t>
            </a:r>
            <a:r>
              <a:rPr lang="en-US" sz="1200" dirty="0" smtClean="0">
                <a:latin typeface="+mn-lt"/>
                <a:ea typeface="+mn-ea"/>
                <a:cs typeface="+mn-cs"/>
              </a:rPr>
              <a:t>)</a:t>
            </a:r>
            <a:r>
              <a:rPr lang="en-US" sz="1200" dirty="0">
                <a:latin typeface="+mn-lt"/>
                <a:ea typeface="+mn-ea"/>
                <a:cs typeface="+mn-cs"/>
              </a:rPr>
              <a:t>   </a:t>
            </a:r>
          </a:p>
          <a:p>
            <a:pPr marL="0" lv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1200" b="1" dirty="0">
                <a:latin typeface="+mn-lt"/>
                <a:ea typeface="+mn-ea"/>
                <a:cs typeface="+mn-cs"/>
              </a:rPr>
              <a:t>Team Mentor 2 Name: </a:t>
            </a:r>
            <a:r>
              <a:rPr lang="en-US" sz="1200" b="1" dirty="0">
                <a:latin typeface="Arial"/>
                <a:ea typeface="+mn-ea"/>
                <a:cs typeface="Arial"/>
              </a:rPr>
              <a:t>Dr. T. Naresh Kumar</a:t>
            </a:r>
            <a:endParaRPr lang="en-US" sz="1200" dirty="0">
              <a:latin typeface="Arial"/>
              <a:ea typeface="+mn-ea"/>
              <a:cs typeface="Arial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4999"/>
            </a:pPr>
            <a:r>
              <a:rPr lang="en-US" sz="1200" dirty="0">
                <a:latin typeface="+mn-lt"/>
                <a:ea typeface="+mn-ea"/>
                <a:cs typeface="+mn-cs"/>
              </a:rPr>
              <a:t>  Academic		 	Expertise (AI/ML/ Robotics)                              Domain Experience (10 Years</a:t>
            </a:r>
            <a:r>
              <a:rPr lang="en-US" sz="1200" dirty="0" smtClean="0">
                <a:latin typeface="+mn-lt"/>
                <a:ea typeface="+mn-ea"/>
                <a:cs typeface="+mn-cs"/>
              </a:rPr>
              <a:t>)</a:t>
            </a:r>
            <a:r>
              <a:rPr lang="en-US" sz="1200" dirty="0">
                <a:latin typeface="+mn-lt"/>
                <a:ea typeface="+mn-ea"/>
                <a:cs typeface="+mn-cs"/>
              </a:rPr>
              <a:t>   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152</Words>
  <Application>Microsoft Office PowerPoint</Application>
  <PresentationFormat>Widescreen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Franklin Gothic</vt:lpstr>
      <vt:lpstr>Libre Franklin</vt:lpstr>
      <vt:lpstr>Arial</vt:lpstr>
      <vt:lpstr>Wingdings</vt:lpstr>
      <vt:lpstr>Calibri</vt:lpstr>
      <vt:lpstr>Garamond</vt:lpstr>
      <vt:lpstr>Organic</vt:lpstr>
      <vt:lpstr>Geospatial Monitoring System for Air and Water Quality Index</vt:lpstr>
      <vt:lpstr>IDEA/APPROACH</vt:lpstr>
      <vt:lpstr>Deployment</vt:lpstr>
      <vt:lpstr>Dependencies</vt:lpstr>
      <vt:lpstr>Team Member Details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online</cp:lastModifiedBy>
  <cp:revision>271</cp:revision>
  <dcterms:created xsi:type="dcterms:W3CDTF">2022-02-11T07:14:46Z</dcterms:created>
  <dcterms:modified xsi:type="dcterms:W3CDTF">2023-09-14T05:28:39Z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